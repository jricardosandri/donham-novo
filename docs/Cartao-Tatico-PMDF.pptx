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pronto emprego. Quatro protocolos que podem ser acionados no mesmo turno de serviço. A competência exigida não e decorar listas, e classificar o evento nos primeiros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palestra por aqui: a contradicao entre protocolos e o ponto que mais gera erro sob pressao.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duvida entre dois protocolos, aplicar sempre o mais restritivo: o que mais afasta pessoas e mais restringe o radio.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medidas de autoprotecao. A regra de ouro esta no rodape: nao fracionar e nao sair isoladamente.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de apoio: o cerco produz resultado por interceptacao em profundidade.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interventor nao resolve o evento critico: ele o estabiliza. Resolver e atribuicao do BOPE.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sequencia dos slides seguintes reconstitui tecnicamente a atuacao exigida do primeiro interventor pela Portaria Conjunta SSP 07/2019, aplicada aos fatos publicos do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6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POLÍCIA MILITAR DO DISTRITO FEDERAL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 Tático de Resposta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Eventos Críticos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pronto emprego para consulta durante o serviço operacional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794760"/>
            <a:ext cx="2578608" cy="148132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4041648"/>
            <a:ext cx="365760" cy="36576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" y="4517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DEFESA DA UPM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47914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Cangaço · domínio de cidades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2424" y="3794760"/>
            <a:ext cx="2578608" cy="148132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4041648"/>
            <a:ext cx="365760" cy="365760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4517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AGRESSOR ATIVO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0168" y="47914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 nº 11/2023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3794760"/>
            <a:ext cx="2578608" cy="148132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4041648"/>
            <a:ext cx="365760" cy="365760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8232" y="4517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GERENTE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47914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PMDF nº 1.218/2021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88552" y="3794760"/>
            <a:ext cx="2578608" cy="148132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4041648"/>
            <a:ext cx="365760" cy="365760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26296" y="4517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PETARDO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26296" y="47914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Conjunta SSP nº 07/2019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didático de consulta rápida — não substitui o texto integral dos normativos.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material entrega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produtos integrados, organizados para leitura vertical rápida.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499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130552"/>
            <a:ext cx="347472" cy="3474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2569464"/>
            <a:ext cx="298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Infográfico tático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935224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defensivas do Plano de Defesa da UPM e diretrizes do POP do Agressor Ativo, em procedimentos numerados.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1208" y="1874520"/>
            <a:ext cx="3499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7240" y="2130552"/>
            <a:ext cx="347472" cy="3474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87240" y="2569464"/>
            <a:ext cx="298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mental integrado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7240" y="2935224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Convergências e a única contradição direta entre a Operação Gerente e a Operação Petardo.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68056" y="1874520"/>
            <a:ext cx="3499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4088" y="2130552"/>
            <a:ext cx="347472" cy="347472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4088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4088" y="2569464"/>
            <a:ext cx="298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real do DF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4088" y="2935224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explosivo em caminhão-tanque nas imediações do Aeroporto de Brasília, dez. 2022.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62784" y="4041648"/>
            <a:ext cx="3499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18816" y="4297680"/>
            <a:ext cx="347472" cy="347472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21" name="Text 19"/>
          <p:cNvSpPr/>
          <p:nvPr/>
        </p:nvSpPr>
        <p:spPr>
          <a:xfrm>
            <a:off x="2718816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18816" y="4736592"/>
            <a:ext cx="298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comentado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18816" y="5102352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questões inéditas com gabarito fundamentado nas normas de regência.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4041648"/>
            <a:ext cx="3499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4297680"/>
            <a:ext cx="347472" cy="3474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55664" y="4736592"/>
            <a:ext cx="298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Roteador de triagem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5664" y="5102352"/>
            <a:ext cx="298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protocolo se aplica ao que você está vendo, em três leituras.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6675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86968" y="1600200"/>
            <a:ext cx="6089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reúne, em formato de consulta imediata, quatro protocolos de resposta a eventos críticos que o policial-militar do Distrito Federal pode acionar no mesmo turno de serviço: as ações defensivas do Plano de Defesa da UPM frente ao ataque de grupos criminosos especializados (Novo Cangaço / domínio de cidades); as diretrizes do POP do Agressor Ativo (IN EM nº 11/2023); as ações do Primeiro Interventor em Crise (Portaria PMDF nº 1.218/2021 — Operação Gerente); e a Primeira Resposta com Explosivos (Portaria Conjunta SSP nº 07/2019 — Operação Petardo).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86968" y="3520440"/>
            <a:ext cx="6089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 parte de uma constatação operacional: os protocolos não apenas diferem entre si — eles se contradizem. O procedimento que preserva vidas em um evento é exatamente o que as ceifa no outro. Por isso o material privilegia a classificação correta do evento e o reconhecimento das transições de natureza, e não a memorização isolada de listas.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98664" y="1325880"/>
            <a:ext cx="3968496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54696" y="14904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854696" y="216712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que podem ser acionados no mesmo turno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98664" y="2871216"/>
            <a:ext cx="3968496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54696" y="30358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58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854696" y="371246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contradição direta entre eles: o emprego do rádio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98664" y="4416552"/>
            <a:ext cx="3968496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54696" y="458114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854696" y="5257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decisão para classificar o evento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cometido nos dois primeiros minutos não é corrigível nas duas horas seguintes.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erros que definem o número de mortos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86968" y="278892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79192"/>
            <a:ext cx="45262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Guarnição que sai fracionada do quartel sob ataque de grupo com armamento de guerra.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86968" y="3362596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52868"/>
            <a:ext cx="45262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Policial que interrompe a progressão para socorrer ferido enquanto o agressor segue atirando.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86968" y="3936273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26545"/>
            <a:ext cx="45262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Interventor que transmite pelo HT ao lado de artefato com iniciação por radiofrequência.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1945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protocolos se contradizem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0528" y="2788920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679192"/>
            <a:ext cx="45262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e negociar é a regra de ouro na crise com reféns — e o erro fatal diante do agressor ativo.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3362596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52868"/>
            <a:ext cx="45262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Difundir de imediato pelo rádio é obrigação no ataque à UPM — e conduta proibida junto a um artefato.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10528" y="3936273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826545"/>
            <a:ext cx="45262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decisão nunca é o que fazer, e sim qual protocolo se aplica.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 IMEDIATA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Roteador de triagem — os primeiros 30 segundos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592324" cy="248716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2157984"/>
            <a:ext cx="2153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VOCÊ ESTÁ VENDO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13816" y="2615184"/>
            <a:ext cx="2153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armado, fuzis, vias bloqueadas, quartel sob fogo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" y="3602736"/>
            <a:ext cx="2153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01 · Defesa da UPM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" y="3913632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Autoproteção → difusão → cerco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7852" y="1965960"/>
            <a:ext cx="2592324" cy="248716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7308" y="2157984"/>
            <a:ext cx="2153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VOCÊ ESTÁ OUVINDO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07308" y="2615184"/>
            <a:ext cx="2153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Disparos contínuos, pessoas em fuga, vítimas caindo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07308" y="3602736"/>
            <a:ext cx="2153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5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02 · Agressor Ativo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07308" y="3913632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→ progressão → intervenção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965960"/>
            <a:ext cx="2592324" cy="248716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57984"/>
            <a:ext cx="2153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1F5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AMEAÇA ESTÁTICA COM PESSOAS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2615184"/>
            <a:ext cx="2153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Refém, barricada, causador que fala e negocia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602736"/>
            <a:ext cx="2153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03 · Operação Gerente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913632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Conter → isolar → negociar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74836" y="1965960"/>
            <a:ext cx="2592324" cy="2487168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4292" y="2157984"/>
            <a:ext cx="2153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B5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SUSPEITO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94292" y="2615184"/>
            <a:ext cx="2153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Artefato, mochila, fio, temporizador, ameaça de bomba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94292" y="3602736"/>
            <a:ext cx="2153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03 · Operação Petardo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94292" y="3913632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tocar → silêncio de RF → afastar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754880"/>
            <a:ext cx="1097280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82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DE DESEMPATE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13892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Havendo menção, indício ou visualização de artefato explosivo em qualquer dos quatro cenários, as regras de radiofrequência da Operação Petardo passam a valer imediatamente e sobre todas as demais. Silêncio eletrônico primeiro; difusão depois, à distância.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600200"/>
            <a:ext cx="7452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defensivas do Plano de Defesa da UPM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2971800"/>
            <a:ext cx="146304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6" name="Text 4"/>
          <p:cNvSpPr/>
          <p:nvPr/>
        </p:nvSpPr>
        <p:spPr>
          <a:xfrm>
            <a:off x="4407408" y="2880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operandi do Novo Cangaço e do domínio de cidades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0" y="3447288"/>
            <a:ext cx="146304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335584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Autoproteção do quartel e das instalações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14800" y="3922776"/>
            <a:ext cx="146304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383133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Difusão imediata de dados ao COPOM pela rede de rádio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114800" y="4398264"/>
            <a:ext cx="146304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430682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Cerco nos pontos de estrangulamento das vias de acesso e saída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 DA UPM · A AMEAÇA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ataque não é um roubo ampliado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operação militarizada com fases. Reconhecer a fase em curso é o que permite antecipar a próxima.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351129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104" y="219456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Horário e efetivo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2104" y="2615184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Madrugada (02h–05h), menor densidade policial. De 10 a 30 criminosos em múltiplos veículos, fuzis 5,56 e 7,62, por vezes .50, e explosivos para arrombamento.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29968"/>
            <a:ext cx="351129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2856" y="219456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Neutralização prévia da resposta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2856" y="2615184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quartel é atacado, cercado ou fixado antes do golpe principal. O objetivo raramente é tomar a UPM — é prendê-la ao solo.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55864" y="2029968"/>
            <a:ext cx="351129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93608" y="219456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Negação de mobilidade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2615184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incendiados atravessados nas vias, miguelitos, derrubada de postes e árvores, artefato improvisado na rota de aproximação.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351129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" y="411480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Negação de comunicação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" y="4535424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a torres e antenas, bloqueadores de sinal, monitoramento da rede de rádio por scanner ou equipamento clonado.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3950208"/>
            <a:ext cx="351129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62856" y="411480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Escudo humano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62856" y="4535424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Reféns colhidos na via pública e distribuídos sobre veículos e nas rotas de fuga, para inibir o emprego de fogo policial.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55864" y="3950208"/>
            <a:ext cx="3511296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93608" y="411480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Dispersão planejada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93608" y="4535424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veículos, abandono do produto, fuga por área rural ou mata, evasão para a unidade federativa vizinha.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58704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recorrentes na literatura policial brasileira: Araçatuba/SP (2021) e Criciúma/SC (2022), entre outras ocorrências de domínio de cidade com ataque simultâneo a bases policiais.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 DA UPM · AÇÃO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Autoproteção do quartel e das instalações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309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737360"/>
            <a:ext cx="53309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1993392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16152" y="1956816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e cerramento. Acionar o alerta interno; travar portões, cancelas e acessos secundários; recolher ao perímetro tudo o que estiver exposto.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392" y="2748001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748001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16152" y="2711425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 a favor da defesa. Apagar as luzes que recortam a silhueta do defensor; manter as que iluminam o atacante na via de aproximação.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" y="3502609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50260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16152" y="3466033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dos postos previstos no plano. Posições com cobertura dura — concreto, colunas, terrapleno. Alvenaria simples, drywall e vidro não param projétil de fuzil.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0392" y="4257218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25721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16152" y="4220642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prioritária de meios. Fuzil, carabina, coletes de maior nível e munição de reserva para quem ocupa os setores de maior exposição.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1993392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0" y="1956816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da reserva de armamento. A captura de armas e munição é objetivo secundário do grupo: o paiol recebe guarnecimento próprio.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2748001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748001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0" y="2711425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Recolhimento de terceiros e custodiados. Público, servidores e presos conduzidos a área protegida, fora de linhas de tiro e de fachadas envidraçadas.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3502609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50260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3466033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Viaturas dispersas. Nunca concentradas na testada do quartel: viatura enfileirada é alvo remunerador e obstáculo à própria saída.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4257218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25721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4220642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alternativa pronta. Telefonia celular e fixa, aplicativos, rede de outra força e, em último caso, mensageiro — com contatos impressos.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5138928"/>
            <a:ext cx="10972800" cy="1239241"/>
          </a:xfrm>
          <a:prstGeom prst="rect">
            <a:avLst/>
          </a:prstGeom>
          <a:solidFill>
            <a:srgbClr val="FFFFFF"/>
          </a:solidFill>
          <a:ln w="22225">
            <a:solidFill>
              <a:srgbClr val="B3121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" y="5340096"/>
            <a:ext cx="128016" cy="12801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4" name="Text 32"/>
          <p:cNvSpPr/>
          <p:nvPr/>
        </p:nvSpPr>
        <p:spPr>
          <a:xfrm>
            <a:off x="1069848" y="52669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QUE MATA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" y="5559552"/>
            <a:ext cx="1046988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fracionar a tropa e não sair isoladamente sob provocação. A saída de uma ou duas guarnições em resposta ao fogo contra o quartel é precisamente o efeito que o atacante busca: dissolve a defesa, entrega viaturas em emboscada preparada e libera o alvo principal. Sai-se em bloco, com ordem, meios e reforço articulado — ou não se sai.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01 · ERRO QUE MATA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ataque ao quartel raramente quer o quartel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B3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quer a sua guarnição fora dele.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10972800" cy="713232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7889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atacante faz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27889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fogo contra a UPM a partir de posição não identificada, à distância, sem tentar transpor o muro.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593592"/>
            <a:ext cx="10972800" cy="713232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59359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espera de você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359359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tropa saia fracionada e em movimento, na direção do fogo, por vias que ele já preparou.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398264"/>
            <a:ext cx="10972800" cy="713232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43982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obtém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439826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dissolvida, viaturas em emboscada, alvo principal desguarnecido e rota de fuga livre.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5202936"/>
            <a:ext cx="10972800" cy="713232"/>
          </a:xfrm>
          <a:prstGeom prst="rect">
            <a:avLst/>
          </a:prstGeom>
          <a:solidFill>
            <a:srgbClr val="1A242E"/>
          </a:solidFill>
          <a:ln w="22225">
            <a:solidFill>
              <a:srgbClr val="2E7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20293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interrompe o plano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520293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Tropa reunida no dispositivo de defesa, difusão imediata ao COPOM e reforço articulado em bloco.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 DA UPM · AÇÃO 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Difusão imediata de dados ao COPOM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Transmita curto, pausado e completo, nesta ordem — e atualize a cada mudança relevante.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116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O QUÊ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15768" y="201168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do evento: ataque a UPM, domínio de cidade, ataque a instituição financeira, explosão.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6883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ONDE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15768" y="268833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exato, ponto de referência inequívoco e sentido de deslocamento.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364992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3649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QUANTOS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15768" y="3364992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estimado de criminosos e de veículos empregados.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041648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0416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COMO ARMADOS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15768" y="404164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Fuzil, metralhadora, explosivos, drones, coletes — o que foi visto, sem inferência.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2011680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0116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VEÍCULOS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201168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cor, marca, placa quando legível e sentido de fuga.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2688336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6883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REFÉNS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21040" y="268833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Existência, quantidade aproximada, onde estão, se são usados como escudo.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3364992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3649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BLOQUEIOS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3364992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 obstruídas, incêndios, miguelitos — orienta o eixo de aproximação do reforço.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99632" y="4041648"/>
            <a:ext cx="5367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0416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NECESSIDADES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404164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Reforço, aeronave, apoio de saúde, bombeiros, concessionárias, forças vizinhas.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4956048"/>
            <a:ext cx="10972800" cy="1239241"/>
          </a:xfrm>
          <a:prstGeom prst="rect">
            <a:avLst/>
          </a:prstGeom>
          <a:solidFill>
            <a:srgbClr val="FFFFFF"/>
          </a:solidFill>
          <a:ln w="22225">
            <a:solidFill>
              <a:srgbClr val="B312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" y="5157216"/>
            <a:ext cx="128016" cy="12801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3" name="Text 31"/>
          <p:cNvSpPr/>
          <p:nvPr/>
        </p:nvSpPr>
        <p:spPr>
          <a:xfrm>
            <a:off x="1069848" y="508406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CONTRA-INTELIGÊNCIA DE REDE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104" y="5376672"/>
            <a:ext cx="1046988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Presuma a rede monitorada. Difundir o que se vê é obrigação; difundir o que se vai fazer é entregar o plano. Não transmita em claro o dispositivo de resposta, o efetivo empregado, as rotas do reforço nem a localização das equipes de cerco — esses dados vão por canal alternativo, criptografado ou por telefonia. Rede da ocorrência restrita; demais unidades em silêncio.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 DA UPM · AÇÃO 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Cerco nos pontos de estrangulamento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estrangulamento é o trecho de passagem obrigatória: ponte, viaduto, alça, trevo, cancela, saída de rodovia.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21408"/>
            <a:ext cx="53309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36208" y="2121408"/>
            <a:ext cx="53309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377440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3774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16152" y="2340864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anéis, não uma perseguição. 1º anel nas imediações do alvo; 2º nas vias arteriais da região administrativa; 3º nas saídas do Distrito Federal.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" y="3132049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13204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16152" y="3095473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antes de posição. Posicionar-se, quando o terreno permitir, fora do alcance eficaz do fuzil, com observação em enfiada da via.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" y="3886657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88665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16152" y="3850081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viatura não é parapeito. Nem blindagem frontal, nem barricada, nem iluminação de posição. Lataria e vidro não param 7,62.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0392" y="4641266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64126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16152" y="4604690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fogo e de evasão. Setor de responsabilidade de cada equipe, limite lateral, ponto de recuo e para onde ninguém atira.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2377440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774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340864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tropa amiga. Múltiplas forças, à noite, em movimento: senha, contrassenha, sinalização e canal comum são obrigatórios.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132049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13204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3095473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Refém embarcado suspende o fogo. Identificado refém no veículo em fuga, o evento transita para gerenciamento de crise.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3886657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88665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3850081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 na rota. Obstáculos, veículos abandonados e volumes deixados na via de fuga são tratados como possíveis artefatos.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92240" y="4641266"/>
            <a:ext cx="256032" cy="219456"/>
          </a:xfrm>
          <a:prstGeom prst="rect">
            <a:avLst/>
          </a:prstGeom>
          <a:solidFill>
            <a:srgbClr val="B3121B"/>
          </a:solidFill>
          <a:ln w="12700">
            <a:solidFill>
              <a:srgbClr val="B312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64126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4604690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sensores. Aeronave, videomonitoramento e leitura de placas; PRF nas federais, forças do Entorno e PCDF na investigação.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" y="5303520"/>
            <a:ext cx="10972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Distrito Federal os eixos obrigatórios de evasão são poucos e conhecidos — BR-020, BR-040, BR-060, BR-070 e BR-251; DF-001 (EPCT), DF-003 (EPIA), DF-085 (EPTG) e DF-095 (EPCL); e as pontes do Lago Paranoá. A proximidade do Entorno goiano comprime o tempo: o 3º anel só funciona se for acionado junto com a primeira difusão, não depois da confirmação do roubo.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 DA UPM · ESQUEMA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Interceptar em profundidade, não perseguir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377440" y="1920240"/>
            <a:ext cx="4389120" cy="4389120"/>
          </a:xfrm>
          <a:prstGeom prst="ellipse">
            <a:avLst/>
          </a:prstGeom>
          <a:ln w="15875">
            <a:solidFill>
              <a:srgbClr val="D3D8D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3375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3º ANEL · SAÍDAS DO DF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2514600"/>
            <a:ext cx="3200400" cy="3200400"/>
          </a:xfrm>
          <a:prstGeom prst="ellipse">
            <a:avLst/>
          </a:prstGeom>
          <a:ln w="15875">
            <a:solidFill>
              <a:srgbClr val="D3D8D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337560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2º ANEL · VIAS ARTERIAIS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3200400"/>
            <a:ext cx="1828800" cy="1828800"/>
          </a:xfrm>
          <a:prstGeom prst="ellipse">
            <a:avLst/>
          </a:prstGeom>
          <a:ln w="15875">
            <a:solidFill>
              <a:srgbClr val="D3D8D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337560" y="3264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1º ANEL · ALVO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 flipV="1">
            <a:off x="4572000" y="2560320"/>
            <a:ext cx="1316736" cy="1371600"/>
          </a:xfrm>
          <a:prstGeom prst="line">
            <a:avLst/>
          </a:prstGeom>
          <a:noFill/>
          <a:ln w="19050">
            <a:solidFill>
              <a:srgbClr val="5B6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71032" y="2404872"/>
            <a:ext cx="310896" cy="31089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2"/>
          <p:cNvSpPr/>
          <p:nvPr/>
        </p:nvSpPr>
        <p:spPr>
          <a:xfrm>
            <a:off x="5971032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4224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rodovia federal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4114800"/>
            <a:ext cx="1956816" cy="0"/>
          </a:xfrm>
          <a:prstGeom prst="line">
            <a:avLst/>
          </a:prstGeom>
          <a:noFill/>
          <a:ln w="19050">
            <a:solidFill>
              <a:srgbClr val="5B6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11112" y="3959352"/>
            <a:ext cx="310896" cy="31089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04304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 saída da 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4114800"/>
            <a:ext cx="1316736" cy="1371600"/>
          </a:xfrm>
          <a:prstGeom prst="line">
            <a:avLst/>
          </a:prstGeom>
          <a:noFill/>
          <a:ln w="19050">
            <a:solidFill>
              <a:srgbClr val="5B6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71032" y="5513832"/>
            <a:ext cx="310896" cy="31089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/>
          <p:nvPr/>
        </p:nvSpPr>
        <p:spPr>
          <a:xfrm>
            <a:off x="5971032" y="5513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4224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/ viaduto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05072" y="3840480"/>
            <a:ext cx="1133856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419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384048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50292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19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029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 flipV="1">
            <a:off x="1965960" y="4480560"/>
            <a:ext cx="1188720" cy="685800"/>
          </a:xfrm>
          <a:prstGeom prst="line">
            <a:avLst/>
          </a:prstGeom>
          <a:noFill/>
          <a:ln w="25400">
            <a:solidFill>
              <a:srgbClr val="B3121B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41248" y="5577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perseguir em coluna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06840" y="1920240"/>
            <a:ext cx="25603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35440" y="2121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53728" y="2542032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3" name="Text 31"/>
          <p:cNvSpPr/>
          <p:nvPr/>
        </p:nvSpPr>
        <p:spPr>
          <a:xfrm>
            <a:off x="9509760" y="2432304"/>
            <a:ext cx="1828800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bloqueio no ponto de passagem obrigatória.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253728" y="3053749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5" name="Text 33"/>
          <p:cNvSpPr/>
          <p:nvPr/>
        </p:nvSpPr>
        <p:spPr>
          <a:xfrm>
            <a:off x="9509760" y="2944021"/>
            <a:ext cx="1828800" cy="6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cerco aguarda; não corre atrás da coluna criminosa.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53728" y="3743599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7" name="Text 35"/>
          <p:cNvSpPr/>
          <p:nvPr/>
        </p:nvSpPr>
        <p:spPr>
          <a:xfrm>
            <a:off x="9509760" y="3633871"/>
            <a:ext cx="1828800" cy="80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Perseguir entrega a iniciativa e leva a guarnição ao terreno preparado pelo atacante.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600200"/>
            <a:ext cx="7452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 do Agressor Ativo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2971800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6" name="Text 4"/>
          <p:cNvSpPr/>
          <p:nvPr/>
        </p:nvSpPr>
        <p:spPr>
          <a:xfrm>
            <a:off x="4407408" y="2880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Normativa EM nº 11/2023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0" y="3447288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335584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Protocolo de formação de contato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14800" y="3922776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383133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Progressão tática imediata em direção ao som dos disparos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114800" y="4398264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430682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Intervenção direta para conter a ameaça e salvar vidas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02 · INVERSÃO DOUTRINÁRIA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 não se isola e não se negocia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houver produção contínua de vítimas, a única missão da primeira equipe é cessar os disparos. Perímetro, negociação e socorro vêm depois — e só existem se a ameaça for contida antes.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3154680"/>
            <a:ext cx="5330952" cy="2468880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6499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ANTIGO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3849624"/>
            <a:ext cx="109728" cy="109728"/>
          </a:xfrm>
          <a:prstGeom prst="rect">
            <a:avLst/>
          </a:prstGeom>
          <a:solidFill>
            <a:srgbClr val="97A3A6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376732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Conter e aguardar a especializada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261104"/>
            <a:ext cx="109728" cy="109728"/>
          </a:xfrm>
          <a:prstGeom prst="rect">
            <a:avLst/>
          </a:prstGeom>
          <a:solidFill>
            <a:srgbClr val="97A3A6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417880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antes de tudo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672584"/>
            <a:ext cx="109728" cy="109728"/>
          </a:xfrm>
          <a:prstGeom prst="rect">
            <a:avLst/>
          </a:prstGeom>
          <a:solidFill>
            <a:srgbClr val="97A3A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" y="459028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Socorro imediato ao primeiro ferido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84064"/>
            <a:ext cx="109728" cy="109728"/>
          </a:xfrm>
          <a:prstGeom prst="rect">
            <a:avLst/>
          </a:prstGeom>
          <a:solidFill>
            <a:srgbClr val="97A3A6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424" y="500176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completa antes de entrar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6208" y="3154680"/>
            <a:ext cx="5330952" cy="2468880"/>
          </a:xfrm>
          <a:prstGeom prst="rect">
            <a:avLst/>
          </a:prstGeom>
          <a:solidFill>
            <a:srgbClr val="1A242E"/>
          </a:solidFill>
          <a:ln w="22225">
            <a:solidFill>
              <a:srgbClr val="D458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336499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VIGENTE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10528" y="3849624"/>
            <a:ext cx="109728" cy="109728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8" name="Text 16"/>
          <p:cNvSpPr/>
          <p:nvPr/>
        </p:nvSpPr>
        <p:spPr>
          <a:xfrm>
            <a:off x="6748272" y="376732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imediato com o efetivo disponível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10528" y="4261104"/>
            <a:ext cx="109728" cy="109728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272" y="417880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Progressão ao som dos disparos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10528" y="4672584"/>
            <a:ext cx="109728" cy="109728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459028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Ultrapassar feridos e quem foge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10528" y="5084064"/>
            <a:ext cx="109728" cy="109728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500176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direta para cessar a ameaça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AGRESSOR ATIVO · IDENTIFICAÇÃO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agressor ativo ou é crise com reféns?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acompanha o comportamento do causador em tempo real — e pode mudar durante o mesmo evento.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200400" cy="457200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2148840"/>
            <a:ext cx="3886200" cy="457200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AGRESSOR ATIVO → FICHA 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0" y="2148840"/>
            <a:ext cx="3886200" cy="457200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CRISE COM REFÉNS → FICHA 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606040"/>
            <a:ext cx="32004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06040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vítimas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2606040"/>
            <a:ext cx="3886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60604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 e em curso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2606040"/>
            <a:ext cx="3886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60604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Cessada; ameaça de causar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090672"/>
            <a:ext cx="3200400" cy="484632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90672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 do causador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4760" y="3090672"/>
            <a:ext cx="3886200" cy="484632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090672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Matar o maior número; sem pauta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3090672"/>
            <a:ext cx="3886200" cy="484632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3090672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Barganhar, exigir, ser ouvido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3575304"/>
            <a:ext cx="32004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75304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94760" y="3575304"/>
            <a:ext cx="3886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3575304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busca contato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3575304"/>
            <a:ext cx="3886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575304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Fala, exige, negocia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" y="4059936"/>
            <a:ext cx="3200400" cy="484632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059936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94760" y="4059936"/>
            <a:ext cx="3886200" cy="484632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405993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Móvel, procura vítimas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80960" y="4059936"/>
            <a:ext cx="3886200" cy="484632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405993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Estático, barricado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" y="4544568"/>
            <a:ext cx="32004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544568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correta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94760" y="4544568"/>
            <a:ext cx="3886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4544568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imediato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80960" y="4544568"/>
            <a:ext cx="3886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4544568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Conter, isolar, negociar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94360" y="5248656"/>
            <a:ext cx="10972800" cy="1045616"/>
          </a:xfrm>
          <a:prstGeom prst="rect">
            <a:avLst/>
          </a:prstGeom>
          <a:solidFill>
            <a:srgbClr val="FFFFFF"/>
          </a:solidFill>
          <a:ln w="22225">
            <a:solidFill>
              <a:srgbClr val="D458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" y="5449824"/>
            <a:ext cx="128016" cy="12801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45" name="Text 43"/>
          <p:cNvSpPr/>
          <p:nvPr/>
        </p:nvSpPr>
        <p:spPr>
          <a:xfrm>
            <a:off x="1069848" y="53766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DUAS TRANSIÇÕES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2104" y="5669280"/>
            <a:ext cx="10469880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agressor ativo que se barrica com reféns e passa a dialogar vira crise. O causador barricado que inicia execuções vira agressor ativo. Percebida a transição, ela é difundida ao COPOM de imediato — é ela que troca o protocolo.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AGRESSOR ATIVO · AÇÃO A e 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de contato e progressão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309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737360"/>
            <a:ext cx="53309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956816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Formação de contato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50392" y="2414016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140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16152" y="2377440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Constituir a equipe com o que há. A formação preferencial é de 3 a 4 policiais; havendo disparos em curso, a dupla é suficiente para iniciar o contato.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" y="3168625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168625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16152" y="3132049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responsabilidade de 360°. Coluna, "T" ou losango conforme o ambiente, cada integrante com setor definido, incluindo retaguarda e planos superior e inferior.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" y="3923233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923233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16152" y="3886657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Anunciar-se ao COPOM. Ponto de entrada utilizado, composição da equipe e sentido de progressão — é o que permite às equipes seguintes entrar sem provocar fogo cruzado.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0392" y="4677842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67784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16152" y="4641266"/>
            <a:ext cx="441655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do incidente. O primeiro supervisor a chegar não entra: assume o comando, instala o Posto de Comando em área fria e organiza as equipes subsequentes.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1956816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Progressão ao som dos disparos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92240" y="2414016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4140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2377440"/>
            <a:ext cx="4416552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ao som. A progressão é feita na direção dos disparos ou estampidos — é ali que a ameaça está produzindo vítimas.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959510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95951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2922934"/>
            <a:ext cx="4416552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não é fim. A pausa pode significar recarga, troca de posição, preparo de artefato ou busca de novas vítimas.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3505005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505005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3468429"/>
            <a:ext cx="4416552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Ultrapassar feridos. Não interromper a progressão para socorrer: marcar a posição, informar ao comando e seguir. O socorro é missão da equipe de resgate, sob escolta.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4236379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23637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0" y="4199803"/>
            <a:ext cx="4416552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Ultrapassar quem foge. Comandar mãos visíveis e canalizar as pessoas para a retaguarda, sem perder de vista que o agressor pode deslocar-se misturado a elas.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967752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967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4931176"/>
            <a:ext cx="4416552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Vencer aberturas com técnica. Fatiar o ângulo, evitar o vão da porta, deslocar-se de cobertura em cobertura.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5513247"/>
            <a:ext cx="256032" cy="219456"/>
          </a:xfrm>
          <a:prstGeom prst="rect">
            <a:avLst/>
          </a:prstGeom>
          <a:solidFill>
            <a:srgbClr val="D4581C"/>
          </a:solidFill>
          <a:ln w="12700">
            <a:solidFill>
              <a:srgbClr val="D458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551324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5476671"/>
            <a:ext cx="4416552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na rota. Aplicar de imediato as regras do Petardo — não tocar, não mover — e contornar, se houver via alternativa.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AGRESSOR ATIVO · AÇÃO 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Intervenção direta e consolidação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511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2104" y="201168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Identificação positiva antes do disparo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2104" y="2505456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identificado, visada segura, consciência do fundo e dos terceiros. Ambiente com policiais de folga, seguranças e civis armados eleva o risco de engano.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11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01168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Presumir múltiplos agressores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62856" y="2505456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neutralização de um não encerra o evento. A varredura continua até a declaração formal de ambiente controlado.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55864" y="1828800"/>
            <a:ext cx="3511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201168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o agressor contido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93608" y="2505456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Algemar, afastar armamento e revistar em busca de artefatos, colete explosivo ou dispositivos de iniciação — sem manipular o que parecer explosivo.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621024"/>
            <a:ext cx="3511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" y="3803904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 de trabalho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2104" y="4297680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 (ameaça direta), morna (ameaça possível) e fria (segura). A equipe de resgate opera na zona morna, sempre com escolta armada.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5112" y="3621024"/>
            <a:ext cx="3511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62856" y="3803904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Corredor de extração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62856" y="4297680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ponto de coleta de feridos e corredor protegido; acionar CBMDF e SAMU; triagem e evacuação por prioridade.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55864" y="3621024"/>
            <a:ext cx="3511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93608" y="3803904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Preservar o local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93608" y="4297680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Contida a ameaça, congelar a cena para a perícia e registrar a sequência dos fatos enquanto a memória é recente.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02 · POR QUE O CONTATO É IMEDIATO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pressa não é emocional. É estatística.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4754880" cy="3063240"/>
          </a:xfrm>
          <a:prstGeom prst="rect">
            <a:avLst/>
          </a:prstGeom>
          <a:solidFill>
            <a:srgbClr val="1A242E"/>
          </a:solidFill>
          <a:ln w="22225">
            <a:solidFill>
              <a:srgbClr val="D458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146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agressor ativo analisados pelo FBI nos Estados Unidos entre 2000 e 2013.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4348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incidentes se encerra em poucos minutos, e boa parte termina antes da chegada da polícia.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2459736"/>
            <a:ext cx="128016" cy="12801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9" name="Text 7"/>
          <p:cNvSpPr/>
          <p:nvPr/>
        </p:nvSpPr>
        <p:spPr>
          <a:xfrm>
            <a:off x="6108192" y="2359152"/>
            <a:ext cx="54406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minuto aguardando a formação ideal é convertido diretamente em vítimas.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06440" y="3188860"/>
            <a:ext cx="128016" cy="12801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1" name="Text 9"/>
          <p:cNvSpPr/>
          <p:nvPr/>
        </p:nvSpPr>
        <p:spPr>
          <a:xfrm>
            <a:off x="6108192" y="3088276"/>
            <a:ext cx="5440680" cy="50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esse dado que substituiu o modelo de conter e esperar pelo modelo de contato imediato.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06440" y="3917985"/>
            <a:ext cx="128016" cy="12801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3" name="Text 11"/>
          <p:cNvSpPr/>
          <p:nvPr/>
        </p:nvSpPr>
        <p:spPr>
          <a:xfrm>
            <a:off x="6108192" y="3817401"/>
            <a:ext cx="5440680" cy="71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DF, o cenário mais provável combina alta concentração de pessoas e edificação conhecida do agressor: unidades escolares, centros comerciais, terminais e órgãos públicos.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06440" y="4856223"/>
            <a:ext cx="128016" cy="12801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5" name="Text 13"/>
          <p:cNvSpPr/>
          <p:nvPr/>
        </p:nvSpPr>
        <p:spPr>
          <a:xfrm>
            <a:off x="6108192" y="4755639"/>
            <a:ext cx="5440680" cy="71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Daí a integração com o policiamento escolar, a difusão de plantas e rotas de acesso e o treinamento de contato com efetivo reduzido.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F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600200"/>
            <a:ext cx="7452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mental integrado — Gerente × Petardo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2971800"/>
            <a:ext cx="146304" cy="146304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6" name="Text 4"/>
          <p:cNvSpPr/>
          <p:nvPr/>
        </p:nvSpPr>
        <p:spPr>
          <a:xfrm>
            <a:off x="4407408" y="2880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Interventor em Crise · Portaria PMDF nº 1.218/2021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0" y="3447288"/>
            <a:ext cx="146304" cy="146304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335584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Resposta com Explosivos · Portaria Conjunta SSP nº 07/2019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14800" y="3922776"/>
            <a:ext cx="146304" cy="146304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383133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comum, bifurcação por natureza da ameaça e reconvergência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114800" y="4398264"/>
            <a:ext cx="146304" cy="146304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430682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contradição direta: o emprego do rádio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1F5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MENTAL · ESTRUTURA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só personagem, duas normas, uma bifurcação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77640" y="1645920"/>
            <a:ext cx="4206240" cy="566928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7" name="Text 5"/>
          <p:cNvSpPr/>
          <p:nvPr/>
        </p:nvSpPr>
        <p:spPr>
          <a:xfrm>
            <a:off x="3977640" y="16459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INTERVENTOR NO LOCAL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80760" y="2212848"/>
            <a:ext cx="0" cy="274320"/>
          </a:xfrm>
          <a:prstGeom prst="line">
            <a:avLst/>
          </a:prstGeom>
          <a:noFill/>
          <a:ln w="25400">
            <a:solidFill>
              <a:srgbClr val="14191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2487168"/>
            <a:ext cx="9326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656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417320" y="25968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NÚCLEO COMUM ÀS DUAS NORMAS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290779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Não se tornar a próxima vítima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90779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Comunicar e acionar a especializada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15468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Isolar e controlar o perímetro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15468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Não improvisar, não manipular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340156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Preservar vidas antes do patrimônio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40156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Preservar o local para a perícia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675888"/>
            <a:ext cx="0" cy="256032"/>
          </a:xfrm>
          <a:prstGeom prst="line">
            <a:avLst/>
          </a:prstGeom>
          <a:noFill/>
          <a:ln w="25400">
            <a:solidFill>
              <a:srgbClr val="14191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0" y="3931920"/>
            <a:ext cx="3017520" cy="96012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419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9319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AMEAÇA?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H="1">
            <a:off x="2697480" y="4407408"/>
            <a:ext cx="1874520" cy="0"/>
          </a:xfrm>
          <a:prstGeom prst="line">
            <a:avLst/>
          </a:prstGeom>
          <a:noFill/>
          <a:ln w="25400">
            <a:solidFill>
              <a:srgbClr val="1F5F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4407408"/>
            <a:ext cx="1874520" cy="0"/>
          </a:xfrm>
          <a:prstGeom prst="line">
            <a:avLst/>
          </a:prstGeom>
          <a:noFill/>
          <a:ln w="25400">
            <a:solidFill>
              <a:srgbClr val="B587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743200" y="41148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· refém · barricada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35240" y="41148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· artefato suspeito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69080"/>
            <a:ext cx="2057400" cy="676656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64040" y="4069080"/>
            <a:ext cx="2057400" cy="676656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4069080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PETARDO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0760" y="4892040"/>
            <a:ext cx="0" cy="384048"/>
          </a:xfrm>
          <a:prstGeom prst="line">
            <a:avLst/>
          </a:prstGeom>
          <a:noFill/>
          <a:ln w="25400">
            <a:solidFill>
              <a:srgbClr val="14191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49040" y="5276088"/>
            <a:ext cx="4663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419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52760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TRANSFERÊNCIA FORMAL AO BOPE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749040" y="5870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viu · o que se fez · o que não foi tocado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1F5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MENTAL · RAMOS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Tópicos conectores de cada ramo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5330952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719072"/>
            <a:ext cx="5330952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93852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Ramo A · Operação Gerente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0392" y="2231136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Portaria PMDF nº 1.218/2021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15184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" y="2505456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Conter → impedir a expansão do evento e a produção de novas vítimas.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126901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3" name="Text 11"/>
          <p:cNvSpPr/>
          <p:nvPr/>
        </p:nvSpPr>
        <p:spPr>
          <a:xfrm>
            <a:off x="1124712" y="3017173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→ perímetro interno (crítico) e externo (segurança, PC, saúde, imprensa), com controle rígido de acesso.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638617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5" name="Text 13"/>
          <p:cNvSpPr/>
          <p:nvPr/>
        </p:nvSpPr>
        <p:spPr>
          <a:xfrm>
            <a:off x="1124712" y="3528889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sem concessão de risco → ganhar tempo, escuta ativa, baixar o tom.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4150334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" y="4040606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conceder → arma, munição, droga, veículo de fuga, troca de refém por policial, deslocamento do causador com refém.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662050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9" name="Text 17"/>
          <p:cNvSpPr/>
          <p:nvPr/>
        </p:nvSpPr>
        <p:spPr>
          <a:xfrm>
            <a:off x="1124712" y="4552322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prometer o que não se pode cumprir → o negociador invoca a autoridade superior para recusar sem romper o vínculo.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5173767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21" name="Text 19"/>
          <p:cNvSpPr/>
          <p:nvPr/>
        </p:nvSpPr>
        <p:spPr>
          <a:xfrm>
            <a:off x="1124712" y="5064039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ativo → difusão contínua ao COPOM; o fluxo de informação alimenta a decisão do gerente da crise.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193852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Ramo B · Operação Petardo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2231136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Portaria Conjunta SSP nº 07/2019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10528" y="2615184"/>
            <a:ext cx="118872" cy="1188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505456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tocar, não mover → e também não cobrir, não molhar, não fotografar com flash, não revistar o volume.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10528" y="3126901"/>
            <a:ext cx="118872" cy="1188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017173"/>
            <a:ext cx="4544568" cy="6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eletrônico → desligar HT, celular e terminal de dados no raio de segurança; iniciadores por RF respondem à energia irradiada.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3816751"/>
            <a:ext cx="118872" cy="1188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3707023"/>
            <a:ext cx="4544568" cy="6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só à distância → afastar-se antes de acionar qualquer equipamento; alternativa: telefonia fixa distante ou mensageiro.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10528" y="4506602"/>
            <a:ext cx="118872" cy="1188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4396874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pelo volume aparente → artefato acoplado a veículo ou carga perigosa: calcular pelo conjunto, não pelo dispositivo.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10528" y="5018319"/>
            <a:ext cx="118872" cy="1188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4908591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linha de visada → evacuar para trás de estrutura dura; fachadas envidraçadas viram estilhaço secundário.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10528" y="5530035"/>
            <a:ext cx="118872" cy="118872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5420307"/>
            <a:ext cx="4544568" cy="44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Presumir artefato secundário → dirigido à tropa que responde: varrer o ponto de concentração e o PC antes de ocupá-los.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03 · A CONTRADIÇÃO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normas divergem em um único ponto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é justamente esse ponto que costuma ser confundido sob pressão.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4800600" cy="1417320"/>
          </a:xfrm>
          <a:prstGeom prst="rect">
            <a:avLst/>
          </a:prstGeom>
          <a:solidFill>
            <a:srgbClr val="1A242E"/>
          </a:solidFill>
          <a:ln w="25400">
            <a:solidFill>
              <a:srgbClr val="1F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RÁDIO ATIVO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2735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Gerente — difusão contínua ao COPOM alimenta a decisão do gerente da crise.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2606040"/>
            <a:ext cx="4800600" cy="1417320"/>
          </a:xfrm>
          <a:prstGeom prst="rect">
            <a:avLst/>
          </a:prstGeom>
          <a:solidFill>
            <a:srgbClr val="1A242E"/>
          </a:solidFill>
          <a:ln w="25400">
            <a:solidFill>
              <a:srgbClr val="B58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8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SILÊNCIO ELETRÔNICO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86600" y="32735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Petardo — HT, celular e terminal desligados; transmitir apenas fora do raio de segurança.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3310128"/>
            <a:ext cx="1965960" cy="0"/>
          </a:xfrm>
          <a:prstGeom prst="line">
            <a:avLst/>
          </a:prstGeom>
          <a:noFill/>
          <a:ln w="31750">
            <a:solidFill>
              <a:srgbClr val="B3121B"/>
            </a:solidFill>
            <a:prstDash val="dash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4343400"/>
            <a:ext cx="10972800" cy="1417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62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DE PREVALÊNCIA · AMEAÇA MISTA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causador alega portar ou porta artefato explosivo, prevalece o Petardo: afaste-se antes de transmitir.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54498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dever de difusão imediata não desaparece — ele é deslocado no tempo e no espaço. Primeiro a distância, depois o rádio.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5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OPERAÇÃO PETARDO · EVACUAÇÃO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Evacuar não é só afastar — é sair da linha de visada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sem massa interposta protege menos do que massa interposta a menor distância.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4572000"/>
            <a:ext cx="10241280" cy="0"/>
          </a:xfrm>
          <a:prstGeom prst="line">
            <a:avLst/>
          </a:prstGeom>
          <a:noFill/>
          <a:ln w="19050">
            <a:solidFill>
              <a:srgbClr val="141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691640" y="3017520"/>
            <a:ext cx="8778240" cy="1298448"/>
          </a:xfrm>
          <a:prstGeom prst="line">
            <a:avLst/>
          </a:prstGeom>
          <a:noFill/>
          <a:ln w="25400">
            <a:solidFill>
              <a:srgbClr val="B3121B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4187952"/>
            <a:ext cx="50292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312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395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visada — o estilhaço viaja em linha reta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3383280"/>
            <a:ext cx="347472" cy="1188720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3054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CONCRETO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4005072"/>
            <a:ext cx="237744" cy="237744"/>
          </a:xfrm>
          <a:prstGeom prst="ellipse">
            <a:avLst/>
          </a:prstGeom>
          <a:ln w="25400">
            <a:solidFill>
              <a:srgbClr val="2E7D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4242816"/>
            <a:ext cx="0" cy="32918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681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ABRIGO CORRETO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937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dura + fora da visada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3246120"/>
            <a:ext cx="0" cy="1325880"/>
          </a:xfrm>
          <a:prstGeom prst="line">
            <a:avLst/>
          </a:prstGeom>
          <a:noFill/>
          <a:ln w="19050">
            <a:solidFill>
              <a:srgbClr val="5B656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275320" y="2761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VIDRO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26880" y="4005072"/>
            <a:ext cx="237744" cy="237744"/>
          </a:xfrm>
          <a:prstGeom prst="ellipse">
            <a:avLst/>
          </a:prstGeom>
          <a:ln w="25400">
            <a:solidFill>
              <a:srgbClr val="B312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45752" y="4242816"/>
            <a:ext cx="0" cy="329184"/>
          </a:xfrm>
          <a:prstGeom prst="line">
            <a:avLst/>
          </a:prstGeom>
          <a:noFill/>
          <a:ln w="25400">
            <a:solidFill>
              <a:srgbClr val="B312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4681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ABRIGO FALSO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4937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fachada vira estilhaço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Corredores e saguões envidraçados, comuns em órgãos públicos e terminais do DF, funcionam como fonte de estilhaço secundário e não devem ser usados como ponto de concentração de evacuados.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5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OPERAÇÃO PETARDO · ISOLAMENTO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Distâncias de referência para o isolamento inicial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 entre duas faixas, adote sempre a maior.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4937760" cy="475488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APARENTE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2103120"/>
            <a:ext cx="3017520" cy="475488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2103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EVACUAÇÃO DE EDIFICAÇÃO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49640" y="2103120"/>
            <a:ext cx="3017520" cy="475488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2103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EVACUAÇÃO EM ÁREA ABERTA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78608"/>
            <a:ext cx="4937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786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tubular / pequeno volume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2578608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2578608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366 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035808"/>
            <a:ext cx="4937760" cy="457200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358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/ maleta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32120" y="3035808"/>
            <a:ext cx="3017520" cy="457200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3035808"/>
            <a:ext cx="3017520" cy="457200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035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564 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3493008"/>
            <a:ext cx="4937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4930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Automóvel de passeio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32120" y="3493008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493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 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49640" y="3493008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3493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457 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" y="3950208"/>
            <a:ext cx="4937760" cy="457200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950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/ utilitário de carga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32120" y="3950208"/>
            <a:ext cx="3017520" cy="457200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 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49640" y="3950208"/>
            <a:ext cx="3017520" cy="457200"/>
          </a:xfrm>
          <a:prstGeom prst="rect">
            <a:avLst/>
          </a:prstGeom>
          <a:solidFill>
            <a:srgbClr val="F3F4F1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838 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" y="4407408"/>
            <a:ext cx="4937760" cy="457200"/>
          </a:xfrm>
          <a:prstGeom prst="rect">
            <a:avLst/>
          </a:prstGeom>
          <a:solidFill>
            <a:srgbClr val="FBF3DC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407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Caminhão de carga ou tanque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532120" y="4407408"/>
            <a:ext cx="3017520" cy="457200"/>
          </a:xfrm>
          <a:prstGeom prst="rect">
            <a:avLst/>
          </a:prstGeom>
          <a:solidFill>
            <a:srgbClr val="FBF3DC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4407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378 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49640" y="4407408"/>
            <a:ext cx="3017520" cy="457200"/>
          </a:xfrm>
          <a:prstGeom prst="rect">
            <a:avLst/>
          </a:prstGeom>
          <a:solidFill>
            <a:srgbClr val="FBF3DC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4407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1.982 m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94360" y="5065776"/>
            <a:ext cx="10972800" cy="1239241"/>
          </a:xfrm>
          <a:prstGeom prst="rect">
            <a:avLst/>
          </a:prstGeom>
          <a:solidFill>
            <a:srgbClr val="FFFFFF"/>
          </a:solidFill>
          <a:ln w="22225">
            <a:solidFill>
              <a:srgbClr val="B587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" y="5266944"/>
            <a:ext cx="128016" cy="128016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45" name="Text 43"/>
          <p:cNvSpPr/>
          <p:nvPr/>
        </p:nvSpPr>
        <p:spPr>
          <a:xfrm>
            <a:off x="1069848" y="51937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5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 ESTA TABELA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2104" y="5486400"/>
            <a:ext cx="1046988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da tabela internacional de referência (ATF/NCTC), amplamente adotada no ensino policial brasileiro, apresentados como piso orientativo do isolamento inicial. Confirme os parâmetros fixados na Portaria Conjunta SSP nº 07/2019 e as instruções do Esquadrão Antibombas do BOPE.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4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600200"/>
            <a:ext cx="7452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real no Distrito Federal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2971800"/>
            <a:ext cx="146304" cy="146304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6" name="Text 4"/>
          <p:cNvSpPr/>
          <p:nvPr/>
        </p:nvSpPr>
        <p:spPr>
          <a:xfrm>
            <a:off x="4407408" y="2880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explosivo em caminhão-tanque · 24 de dezembro de 2022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0" y="3447288"/>
            <a:ext cx="146304" cy="146304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335584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Imediações do Aeroporto Internacional de Brasília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14800" y="3922776"/>
            <a:ext cx="146304" cy="146304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383133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medidas da Operação Petardo pela PMDF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114800" y="4398264"/>
            <a:ext cx="146304" cy="146304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430682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tática do Primeiro Interventor antes da chegada do Esquadrão de Bombas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REAL · OS FATOS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 em caminhão-tanque, véspera de Natal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6400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75104"/>
            <a:ext cx="5852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véspera do Natal de 2022, o motorista de um caminhão-tanque carregado de combustível de aviação, estacionado em via nas imediações do Aeroporto Internacional de Brasília, percebeu um objeto estranho acoplado à estrutura do veículo e acionou a polícia. Tratava-se de artefato explosivo com sistema de iniciação por radiofrequência, acionável por telefone celular. A área foi isolada e o Esquadrão Antibombas do BOPE/PMDF conduziu o reconhecimento e a neutralização do dispositivo. O autor foi identificado e preso ainda no mesmo dia e confessou a autoria.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976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07224" y="1901952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8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por radiofrequência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07224" y="2395728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rádio do próprio policial poderia funcionar como sinal de acionamento do artefato.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69480" y="3182112"/>
            <a:ext cx="42976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07224" y="3346704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secundária de altíssima energia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07224" y="3840480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artefato era pequeno. O caminhão-tanque era a verdadeira bomba.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69480" y="4626864"/>
            <a:ext cx="42976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07224" y="4791456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Proximidade de infraestrutura crítica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07224" y="5285232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 internacional, grande fluxo de pessoas e véspera de feriado.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407408"/>
            <a:ext cx="6400800" cy="1239241"/>
          </a:xfrm>
          <a:prstGeom prst="rect">
            <a:avLst/>
          </a:prstGeom>
          <a:solidFill>
            <a:srgbClr val="FFFFFF"/>
          </a:solidFill>
          <a:ln w="22225">
            <a:solidFill>
              <a:srgbClr val="4F6B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4608576"/>
            <a:ext cx="128016" cy="12801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69848" y="45354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É O EXEMPLO DIDÁTICO PERFEITO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104" y="4828032"/>
            <a:ext cx="589788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ocorrência reúne as três circunstâncias que a Operação Petardo trata com maior rigor — e que, isoladas, já bastariam para justificar o protocolo.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REAL · PRIMEIRO INTERVENTOR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tática do Primeiro Interventor · 1 de 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Reconstituição à luz da Portaria Conjunta SSP nº 07/2019, no intervalo entre o acionamento e a chegada do Esquadrão.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975104"/>
            <a:ext cx="10972800" cy="89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75104"/>
            <a:ext cx="1207008" cy="899312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75104"/>
            <a:ext cx="1207008" cy="89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0824" y="206654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Recebimento e não aproximação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020824" y="2359152"/>
            <a:ext cx="8092440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guarnição interrompe o deslocamento a distância segura e conduz avaliação visual e à distância. Nenhum policial se aproxima para conferir se é mesmo uma bomba — a confirmação não é atribuição do interventor.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0" y="2066544"/>
            <a:ext cx="1234440" cy="71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tocar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mover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984144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984144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84144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0824" y="307558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Silêncio eletrônico imediato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20824" y="3368192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HT, telefones celulares e terminais de dados desligados no raio de segurança. Aqui a regra deixa de ser precaução doutrinária: o dispositivo tinha iniciação por radiofrequência, e uma única transmissão nas proximidades poderia atuar como sinal de acionamento.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0" y="3075584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silêncio de RF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186809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186809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186809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T+2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20824" y="4278249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Proibição de mover o veículo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020824" y="4570857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impulso natural — afastar o caminhão da área — é vedado. Movimentar veículo com artefato acoplado o submete a vibração e a possíveis chaves inerciais ou anti-remoção. O veículo permanece onde está; quem se move é a população.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0" y="4278249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mover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REAL · PRIMEIRO INTERVENTOR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tática do Primeiro Interventor · 2 de 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 do isolamento pelo conjunto artefato + carga e evacuação da área.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975104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75104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75104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T+4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0824" y="206654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dimensionado pelo conjunto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020824" y="2359152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de segurança não é calculada pelo tamanho do artefato, e sim pelo conjunto artefato + carga: um tanque de combustível de aviação impõe a faixa de isolamento de caminhão-tanque, com risco adicional de incêndio e de ruptura do reservatório sob pressão.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0" y="2066544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distância pelo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177769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177769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77769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T+6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0824" y="3269209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Evacuação fora da linha de visada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20824" y="3561817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de pedestres, ocupantes de veículos e trabalhadores das imediações, direcionando-os para trás de estruturas rígidas e para fora do eixo direto do artefato — evitando saguões, passarelas e fachadas envidraçadas como pontos de concentração.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0" y="3269209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preservação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vidas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380433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380433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80433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T+8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20824" y="4471873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Bloqueio viário e controle de acesso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020824" y="4764481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Interdição das vias de aproximação com viaturas posicionadas fora do perímetro, controle de entrada e saída, registro de quem já estava no local e canalização do tráfego por rota alternativa. Em véspera de feriado, com fluxo aeroportuário intenso, controlar trânsito é preservar vidas.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0" y="4471873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isolamento do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perímetro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REAL · PRIMEIRO INTERVENTOR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tática do Primeiro Interventor · 3 de 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artefato secundário, difusão à distância e transferência de responsabilidade.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975104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75104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75104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T+10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0824" y="206654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Varredura do ponto de concentração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020824" y="2359152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instalar o ponto de reunião da tropa e o Posto de Comando, inspeção visual da área escolhida: presume-se artefato secundário dirigido contra quem responde à ocorrência. O PC não é montado no ponto óbvio nem na linha de visada do dispositivo.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0" y="2066544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artefato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secundário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177769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177769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77769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T+12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0824" y="3269209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Difusão à distância e acionamento integrado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20824" y="3561817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fora do raio de segurança, difusão ao COPOM com localização, descrição do artefato observada à distância, natureza da carga e dimensão do perímetro. Acionamento do Esquadrão Antibombas do BOPE e, de forma articulada, de CBMDF, SAMU, PCDF, administração aeroportuária e Polícia Federal.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0" y="3269209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acionamento da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especializada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380433"/>
            <a:ext cx="10972800" cy="109293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380433"/>
            <a:ext cx="1207008" cy="1092937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80433"/>
            <a:ext cx="1207008" cy="109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20824" y="4471873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 e transferência formal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020824" y="4764481"/>
            <a:ext cx="8092440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mantido sem alteração, preservação de imagens de videomonitoramento e identificação de testemunhas. Com a chegada do Esquadrão: o que se viu, o que se fez, o que não foi tocado e quem esteve dentro do perímetro.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0" y="4471873"/>
            <a:ext cx="1234440" cy="91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transferência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 BOPE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REAL · RESULTADO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do patrimônio e recorrência do cenário no DF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3095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01168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patrimônio foi protegido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118872" cy="118872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9" name="Text 7"/>
          <p:cNvSpPr/>
          <p:nvPr/>
        </p:nvSpPr>
        <p:spPr>
          <a:xfrm>
            <a:off x="1124712" y="2432304"/>
            <a:ext cx="4544568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contenção da detonação secundária: impedir a movimentação do tanque e afastar fontes de ignição evitou que um artefato de pequeno porte se convertesse em evento de grandes proporções.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471977"/>
            <a:ext cx="118872" cy="118872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" y="3362249"/>
            <a:ext cx="4544568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interrupção de serviços de risco: articulação com concessionárias e com a administração aeroportuária para suspender operações e fluxos na área afetada.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08297"/>
            <a:ext cx="118872" cy="118872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24712" y="4098569"/>
            <a:ext cx="4544568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integridade da prova: a não manipulação do artefato preservou vestígios que sustentaram a identificação e a responsabilização do autor.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533095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01168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hipótese remota de manual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510528" y="2542032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432304"/>
            <a:ext cx="4544568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novembro de 2024 — detonação de artefatos na Praça dos Três Poderes, diante do STF, e localização de veículo com material explosivo nas imediações.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10528" y="3278353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168625"/>
            <a:ext cx="4544568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janeiro de 2023 — invasão e depredação das sedes dos três Poderes, com falhas concentradas na fase de pré-confrontação.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0528" y="4014673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904945"/>
            <a:ext cx="4544568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dezembro de 2022 — o caso analisado, nas imediações do aeroporto.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754880"/>
            <a:ext cx="10972800" cy="1061106"/>
          </a:xfrm>
          <a:prstGeom prst="rect">
            <a:avLst/>
          </a:prstGeom>
          <a:solidFill>
            <a:srgbClr val="FFFFFF"/>
          </a:solidFill>
          <a:ln w="22225">
            <a:solidFill>
              <a:srgbClr val="4F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" y="4956048"/>
            <a:ext cx="128016" cy="128016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69848" y="488289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4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LIÇÃO QUE OS TRÊS CASOS REPETEM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" y="5175504"/>
            <a:ext cx="10469880" cy="494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Brasília, a Operação Petardo é ocorrência recorrente em área de altíssima densidade institucional. O que separou o caso de dezembro de 2022 dos demais não foi a sorte: foi a disciplina do primeiro interventor em não tocar, não mover e não transmitir.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45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600200"/>
            <a:ext cx="7452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quatro questões com gabarito comentado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2971800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6" name="Text 4"/>
          <p:cNvSpPr/>
          <p:nvPr/>
        </p:nvSpPr>
        <p:spPr>
          <a:xfrm>
            <a:off x="4407408" y="2880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Plano de Defesa da UPM (Novo Cangaço / domínio de cidades)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0" y="3447288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335584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Instrução Normativa EM nº 11/2023 — POP do Agressor Ativo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14800" y="3922776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383133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questão é seguida do gabarito comentado e fundamentado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114800" y="4398264"/>
            <a:ext cx="146304" cy="146304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430682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 Q2 · Defesa da UPM     Q3 e Q4 · Agressor Ativo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QUESTÃO 1 · DEFESA DA UPM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0972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1051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serviço noturno, a UPM passa a receber disparos de fuzil vindos de posição não identificada. Simultaneamente, o COPOM informa alarme disparado em agência bancária a 3 km. Há duas guarnições disponíveis no quartel. Qual conduta atende ao Plano de Defesa da UPM?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9304" y="2907792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Deslocar imediatamente uma das guarnições para a agência e manter a outra na defesa do quartel, dividindo a resposta entre os dois pontos.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624224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9304" y="3624224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com as duas guarnições em perseguição à origem dos disparos, para identificar e neutralizar os atiradores antes que ampliem o ataque.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340657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" y="4497705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44977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9304" y="4340657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tropa reunida no dispositivo de defesa da UPM, difundir imediatamente a situação ao COPOM e aguardar a articulação do reforço, tratando o ataque como fixação da resposta policial.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057089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5214137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52141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9304" y="5057089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Cessar as transmissões de rádio para não revelar posição e aguardar em silêncio o amanhecer, quando o efetivo do turno seguinte assumirá.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GABARITO DA QUESTÃO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comentado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21992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 CORRETA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21992" y="1993392"/>
            <a:ext cx="9345168" cy="89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ataque ao quartel simultâneo a alarme em instituição financeira é a assinatura clássica do Novo Cangaço: o fogo contra a UPM não busca conquistá-la, mas fixá-la — prendê-la ao solo enquanto o golpe principal se desenvolve em outro ponto. A resposta correta preserva o dispositivo defensivo, difunde os dados para que o sistema articule reforço em bloco e evita entregar guarnições isoladas ao terreno preparado pelo atacante.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091477"/>
            <a:ext cx="10972800" cy="219501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201205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AS DEMAIS FALHAM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557821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57821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71016" y="3521245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 exatamente o efeito perseguido pelo agressor: fraciona a tropa e envia uma guarnição em inferioridade contra grupo com armamento de guerra.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118805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8805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71016" y="4082229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Agrava — abandona a instalação, a reserva de armamento e os custodiados, e lança a tropa em movimento contra posição de tiro não identificada, provavelmente preparada como emboscada.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679789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79789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71016" y="4643213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Confunde disciplina de rede com silêncio. A difusão imediata ao COPOM é obrigatória; o que se restringe é a transmissão em claro do dispositivo de resposta, não o relato do que está acontecendo.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469374"/>
            <a:ext cx="10972800" cy="883822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4252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780270"/>
            <a:ext cx="10424160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Defesa da UPM — autoproteção das instalações, vedação ao fracionamento da tropa e difusão imediata de dados ao COPOM pela rede de rádio.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QUESTÃO 2 · DEFESA DA UPM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0972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1051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o roubo a instituição financeira com fuga de quatro veículos, o comando determina o cerco. Sobre o posicionamento das equipes nos pontos de estrangulamento, assinale a conduta tecnicamente correta.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9304" y="2907792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Atravessar as viaturas na pista, com os policiais abrigados atrás das portas e do compartimento do motor, formando barreira física no eixo da via.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624224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9304" y="3624224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Ocupar o ponto de passagem obrigatória com antecedência, buscando distância superior ao alcance eficaz do fuzil, cobertura dura e observação em enfiada da via, com plano de fogo e de evasão definidos.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340657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" y="4497705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44977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9304" y="4340657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a coluna criminosa a curta distância, mantendo contato visual e transmitindo pelo rádio a posição em tempo real até a chegada do apoio aéreo.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057089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5214137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52141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9304" y="5057089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todas as equipes disponíveis no primeiro anel, junto à agência, por ser o ponto de maior probabilidade de reencontro com os criminosos.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GABARITO DA QUESTÃO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comentado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21992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 CORRETA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21992" y="1993392"/>
            <a:ext cx="9345168" cy="89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cerco produz resultado por interceptação em profundidade, não por perseguição. A eficácia depende de três fatores combinados: chegar ao ponto obrigatório antes, permanecer fora do alcance eficaz do armamento do oponente e dispor de cobertura dura com setor de tiro definido — além do plano de evasão, porque a equipe de cerco pode ser a parte em desvantagem numérica.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091477"/>
            <a:ext cx="10972800" cy="200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201205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AS DEMAIS FALHAM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557821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57821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71016" y="3521245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Repousa sobre um erro difundido: a viatura não é blindagem. Lataria, vidro e portas não detêm projétil de fuzil, e a viatura atravessada converte a equipe em alvo iluminado e previsível.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118805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8805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71016" y="4082229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perseguição em coluna — entrega a iniciativa, expõe a guarnição a emboscada preparada na rota de fuga e ainda transmite em claro a posição das equipes, presumindo-se a rede monitorada.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679789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79789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71016" y="4643213"/>
            <a:ext cx="9912096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Desperdiça meios no anel onde os criminosos já não estão, deixando desguarnecidos exatamente os pontos por onde terão de passar.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275750"/>
            <a:ext cx="10972800" cy="883822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4890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586646"/>
            <a:ext cx="10424160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Defesa da UPM — estabelecimento do cerco nos pontos de estrangulamento das vias de acesso e saída; escalonamento em anéis de contenção.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QUESTÃO 3 · AGRESSOR ATIVO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0972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1051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Guarnição composta por dois policiais chega a um centro comercial onde se ouvem disparos sucessivos. No hall de entrada há três feridos caídos e dezenas de pessoas correndo em direção à equipe. Conforme o POP do Agressor Ativo (IN EM nº 11/2023), a conduta correta é: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9304" y="2907792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os primeiros socorros aos feridos do hall, por serem vítimas já identificadas e de risco imediato de morte, e aguardar equipe de reforço para a progressão.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624224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9304" y="3624224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perímetro no acesso principal, conter a saída das pessoas para triagem e iniciar contato verbal a fim de negociar a rendição do agressor.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340657"/>
            <a:ext cx="10972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" y="4459529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44595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9304" y="4340657"/>
            <a:ext cx="10003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a formação mínima de quatro policiais, por vedação ao contato com efetivo reduzido, mantendo a guarnição na entrada.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980737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5137785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51377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9304" y="4980737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contato com a dupla disponível e progredir em direção ao som dos disparos, ultrapassando feridos e pessoas em fuga, com o objetivo de conter a ameaça e cessar a produção de vítimas.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GABARITO DA QUESTÃO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comentado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21992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 CORRETA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21992" y="1993392"/>
            <a:ext cx="9345168" cy="10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há produção contínua de vítimas, a única missão da primeira equipe é cessar os disparos: interromper a fonte do dano salva mais vidas do que atender qualquer vítima individual, porque cada minuto de atraso soma novas vítimas. Daí as duas condutas mais contraintuitivas da doutrina — ultrapassar feridos, cuja posição é marcada e informada para socorro pela equipe de resgate sob escolta, e ultrapassar quem foge, canalizando as pessoas para a retaguarda sem interromper a progressão.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292846"/>
            <a:ext cx="10972800" cy="180776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0257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AS DEMAIS FALHAM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759190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5919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71016" y="3722614"/>
            <a:ext cx="9912096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a equipe de contato em equipe de socorro e deixa o agressor livre para prosseguir produzindo vítimas.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126550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2655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71016" y="4089974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ao agressor ativo o protocolo do evento com reféns: isolar e negociar só faz sentido quando a produção de vítimas cessou e há causador disposto a barganhar.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687534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8753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71016" y="4650958"/>
            <a:ext cx="9912096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a regra — a formação de 3 a 4 policiais é preferencial, não condição. Havendo disparos em curso, a dupla inicia o contato.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283495"/>
            <a:ext cx="10972800" cy="883822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56647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594391"/>
            <a:ext cx="10424160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 nº 11/2023 — protocolo de formação de contato, progressão tática imediata em direção ao som dos disparos e ação de intervenção direta para conter a ameaça e salvar vidas.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QUESTÃO 4 · AGRESSOR ATIVO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0972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1051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progressão, o agressor recolhe-se a uma sala com quatro pessoas, tranca a porta, cessa os disparos e passa a gritar exigências, afirmando que "vai explodir tudo". Qual é a conduta correta da equipe de contato?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6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9304" y="2907792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Interromper a progressão, conter e isolar o ambiente, comunicar de imediato a mudança de natureza do evento e adotar as regras de radiofrequência aplicáveis à ameaça de explosivo, aguardando a especializada.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624224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7812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9304" y="3624224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progressão e invadir a sala de imediato, pois uma vez iniciado o protocolo de agressor ativo ele deve ser levado até a neutralização da ameaça.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340657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" y="4497705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44977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9304" y="4340657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Recuar toda a equipe para fora da edificação e liberar o perímetro interno, transferindo integralmente o evento ao comando, sem manter contato visual com o acesso.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057089"/>
            <a:ext cx="10972800" cy="62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5214137"/>
            <a:ext cx="310896" cy="310896"/>
          </a:xfrm>
          <a:prstGeom prst="rect">
            <a:avLst/>
          </a:prstGeom>
          <a:solidFill>
            <a:srgbClr val="F3F4F1"/>
          </a:solidFill>
          <a:ln w="12700">
            <a:solidFill>
              <a:srgbClr val="5B6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52141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9304" y="5057089"/>
            <a:ext cx="10003536" cy="62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de pronto a negociação das exigências, concedendo o que for necessário para evitar a detonação, inclusive meio de transporte para a saída do agressor.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solidFill>
            <a:srgbClr val="D4581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4206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D45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· GABARITO DA QUESTÃO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comentado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0078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21992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 CORRETA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21992" y="1993392"/>
            <a:ext cx="9345168" cy="89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evento mudou de natureza duas vezes na mesma cena. Ao cessar a produção de vítimas, barricar-se e formular exigências, o agressor deixou de ser agressor ativo e passou a ser causador de evento crítico com reféns, o que desloca a resposta para conter, isolar e negociar. Ao mesmo tempo, a menção a explosivo faz incidir a regra de radiofrequência da Operação Petardo, que prevalece sobre o dever de difusão imediata: afasta-se primeiro, transmite-se depois.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091477"/>
            <a:ext cx="10972800" cy="219501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201205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31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AS DEMAIS FALHAM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557821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57821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71016" y="3521245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o protocolo como trilho. A classificação acompanha o comportamento do causador em tempo real, e invadir ambiente barricado com reféns e ameaça de artefato é a alternativa de maior risco e menor reversibilidade, reservada à tropa especializada.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118805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8805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71016" y="4082229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 a contenção: perder o controle do acesso permite deslocamento do causador, fuga misturada às vítimas ou reinício das execuções.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679789"/>
            <a:ext cx="274320" cy="2377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79789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71016" y="4643213"/>
            <a:ext cx="991209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 o núcleo da negociação policial — não há concessão de itens que criem risco novo ou transfiram poder ao causador, e meio de fuga com refém é vedação expressa.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469374"/>
            <a:ext cx="10972800" cy="883822"/>
          </a:xfrm>
          <a:prstGeom prst="rect">
            <a:avLst/>
          </a:prstGeom>
          <a:solidFill>
            <a:srgbClr val="1419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4252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780270"/>
            <a:ext cx="10424160" cy="46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 nº 11/2023, quanto à identificação e à transição do evento; Portaria PMDF nº 1.218/2021 (Operação Gerente), quanto à contenção, ao isolamento e à negociação sem concessões de risco; Portaria Conjunta SSP nº 07/2019 (Operação Petardo), quanto ao silêncio eletrônico.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quatro assuntos. São quatro respostas mutuamente excludentes à mesma pergunta inicial.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486912" cy="1965960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926080"/>
            <a:ext cx="146304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3145536"/>
            <a:ext cx="2974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Autoproteção viabiliza a missão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3675888"/>
            <a:ext cx="2974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interventor que se torna vítima subtrai um socorrista e acrescenta uma ocorrência. Proteger-se não concorre com a missão — é o que a torna possível.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7304" y="2697480"/>
            <a:ext cx="3486912" cy="1965960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3336" y="2926080"/>
            <a:ext cx="146304" cy="146304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1" name="Text 9"/>
          <p:cNvSpPr/>
          <p:nvPr/>
        </p:nvSpPr>
        <p:spPr>
          <a:xfrm>
            <a:off x="4593336" y="3145536"/>
            <a:ext cx="2974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Estabilizar, não resolver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3336" y="3675888"/>
            <a:ext cx="2974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interventor não resolve o evento crítico: ele o estabiliza. A pressa em resolver sozinho é a origem mais frequente do desastre.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0248" y="2697480"/>
            <a:ext cx="3486912" cy="1965960"/>
          </a:xfrm>
          <a:prstGeom prst="rect">
            <a:avLst/>
          </a:prstGeom>
          <a:solidFill>
            <a:srgbClr val="1A242E"/>
          </a:solidFill>
          <a:ln w="12700">
            <a:solidFill>
              <a:srgbClr val="2C3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6280" y="2926080"/>
            <a:ext cx="146304" cy="146304"/>
          </a:xfrm>
          <a:prstGeom prst="rect">
            <a:avLst/>
          </a:prstGeom>
          <a:solidFill>
            <a:srgbClr val="B587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36280" y="3145536"/>
            <a:ext cx="2974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 disciplinada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6280" y="3675888"/>
            <a:ext cx="2974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7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Difundir cedo e com disciplina vale mais do que qualquer ação isolada — ressalvado o único caso em que a transmissão é, ela própria, o perigo.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956048"/>
            <a:ext cx="10972800" cy="1005840"/>
          </a:xfrm>
          <a:prstGeom prst="rect">
            <a:avLst/>
          </a:prstGeom>
          <a:solidFill>
            <a:srgbClr val="1A242E"/>
          </a:solidFill>
          <a:ln w="25400">
            <a:solidFill>
              <a:srgbClr val="D458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956048"/>
            <a:ext cx="10351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críticos são vencidos ou perdidos muito antes de começarem — na fase em que ninguém está olhando: a do treinamento, do plano ensaiado e do equipamento conferido.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de uso e fontes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33095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64208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1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deste material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86968" y="2176272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66544"/>
            <a:ext cx="4507992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de consulta rápida. Não substitui o texto integral do Plano de Defesa da UPM, da IN EM nº 11/2023, da Portaria PMDF nº 1.218/2021 e da Portaria Conjunta SSP nº 07/2019.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86968" y="3106217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96489"/>
            <a:ext cx="450799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procedimentos foram organizados a partir da doutrina consolidada de gerenciamento de crises, primeira resposta a explosivos e resposta a agressor ativo.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842537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32809"/>
            <a:ext cx="4507992" cy="6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numeração de itens, distâncias e atribuições diretamente nos normativos vigentes e nas instruções do Esquadrão Antibombas do BOPE antes de empregar em instrução formal.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1417320"/>
            <a:ext cx="533095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1664208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de apoio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28816" y="2176272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2066544"/>
            <a:ext cx="4507992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Defesa da Unidade Policial Militar — PMDF.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28816" y="2525344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2415616"/>
            <a:ext cx="4507992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Normativa EM nº 11/2023 — POP do Agressor Ativo.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28816" y="2874416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2764688"/>
            <a:ext cx="4507992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PMDF nº 1.218/2021 — Operação Gerente.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28816" y="3223489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20" name="Text 18"/>
          <p:cNvSpPr/>
          <p:nvPr/>
        </p:nvSpPr>
        <p:spPr>
          <a:xfrm>
            <a:off x="6784848" y="3113761"/>
            <a:ext cx="4507992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Conjunta SSP nº 07/2019 — Operação Petardo.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28816" y="3572561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3462833"/>
            <a:ext cx="4507992" cy="28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de evacuação: tabela de referência ATF/NCTC.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28816" y="3921633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3811905"/>
            <a:ext cx="4507992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de eventos de agressor ativo: estudo do FBI sobre incidentes ocorridos nos Estados Unidos entre 2000 e 2013.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28816" y="4464329"/>
            <a:ext cx="118872" cy="118872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4354601"/>
            <a:ext cx="4507992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13.060/2014 e Portaria Interministerial nº 4.226/2010 — uso diferenciado da força.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Polícia Militar do Distrito Federal — ficha de pronto emprego para o serviço operacional.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2727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Cartao Tatico de Resposta a Eventos Criticos</dc:title>
  <dc:subject>PptxGenJS Presentation</dc:subject>
  <dc:creator>PMDF</dc:creator>
  <cp:lastModifiedBy>PMDF</cp:lastModifiedBy>
  <cp:revision>1</cp:revision>
  <dcterms:created xsi:type="dcterms:W3CDTF">2026-08-20T21:08:01Z</dcterms:created>
  <dcterms:modified xsi:type="dcterms:W3CDTF">2026-08-20T21:08:01Z</dcterms:modified>
</cp:coreProperties>
</file>